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elasio" panose="020B0604020202020204" charset="0"/>
      <p:regular r:id="rId14"/>
    </p:embeddedFont>
    <p:embeddedFont>
      <p:font typeface="Lato" panose="020F0502020204030203" pitchFamily="34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76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Handwritten Digit Recognition using CNN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By: Manav Taparia, Techno India University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062" y="536615"/>
            <a:ext cx="6828592" cy="609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Unravelling Handwritten Digits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3062" y="1439108"/>
            <a:ext cx="13264277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core objective of this project is to develop a robust system capable of accurately identifying handwritten digits, transforming complex patterns into actionable insights.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3062" y="2283023"/>
            <a:ext cx="6534507" cy="5410200"/>
          </a:xfrm>
          <a:prstGeom prst="roundRect">
            <a:avLst>
              <a:gd name="adj" fmla="val 151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5825" y="2485787"/>
            <a:ext cx="585430" cy="585430"/>
          </a:xfrm>
          <a:prstGeom prst="roundRect">
            <a:avLst>
              <a:gd name="adj" fmla="val 15617726"/>
            </a:avLst>
          </a:prstGeom>
          <a:solidFill>
            <a:srgbClr val="E5E5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798" y="2646759"/>
            <a:ext cx="263366" cy="263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5825" y="3266361"/>
            <a:ext cx="6128980" cy="731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MNIST Dataset: A Foundation for Innovation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885825" y="4115157"/>
            <a:ext cx="6128980" cy="936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foundational dataset is the bedrock of handwritten digit recognition research, providing a rich training ground for advanced algorithms.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85825" y="5168741"/>
            <a:ext cx="6128980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70,000 Greyscale Images:</a:t>
            </a: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 massive collection of single handwritten digits, forming the standard benchmark.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85825" y="5861328"/>
            <a:ext cx="6128980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28x28 Pixel Precision:</a:t>
            </a: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Each image meticulously captured to allow for detailed analysis and feature extraction.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85825" y="6553914"/>
            <a:ext cx="6128980" cy="936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Benchmarking Standard:</a:t>
            </a: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Widely adopted for evaluating and pushing the boundaries of classification algorithms in computer vision.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12712" y="2283023"/>
            <a:ext cx="6534626" cy="5410200"/>
          </a:xfrm>
          <a:prstGeom prst="roundRect">
            <a:avLst>
              <a:gd name="adj" fmla="val 151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15476" y="2485787"/>
            <a:ext cx="585430" cy="585430"/>
          </a:xfrm>
          <a:prstGeom prst="roundRect">
            <a:avLst>
              <a:gd name="adj" fmla="val 15617726"/>
            </a:avLst>
          </a:prstGeom>
          <a:solidFill>
            <a:srgbClr val="E5E5E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6448" y="2646759"/>
            <a:ext cx="263366" cy="2633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15476" y="3266361"/>
            <a:ext cx="4535805" cy="36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Impactful Real-World Applications</a:t>
            </a:r>
            <a:endParaRPr lang="en-US" sz="2300" dirty="0"/>
          </a:p>
        </p:txBody>
      </p:sp>
      <p:sp>
        <p:nvSpPr>
          <p:cNvPr id="16" name="Text 12"/>
          <p:cNvSpPr/>
          <p:nvPr/>
        </p:nvSpPr>
        <p:spPr>
          <a:xfrm>
            <a:off x="7615476" y="3749278"/>
            <a:ext cx="6129099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Beyond academic research, this technology drives practical solutions, enhancing efficiency and accuracy across various industries.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615476" y="4490680"/>
            <a:ext cx="6129099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Postal Services:</a:t>
            </a: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Revolutionizing mail sorting through precise recognition of handwritten postal codes.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615476" y="5183267"/>
            <a:ext cx="6129099" cy="936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Enhanced Optical Character Recognition (OCR):</a:t>
            </a: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Powering advanced document processing, from digitizing historical texts to modern archiving.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615476" y="6188035"/>
            <a:ext cx="6129099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Streamlined Data Entry:</a:t>
            </a: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Automating form processing and significantly reducing manual effort and errors in diverse sectors.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2503"/>
            <a:ext cx="86904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Preparing the Data for Intelligence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14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Effective data preprocessing is crucial for optimal model performance and accurate digit classification.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299960" y="2639497"/>
            <a:ext cx="30480" cy="4617601"/>
          </a:xfrm>
          <a:prstGeom prst="roundRect">
            <a:avLst>
              <a:gd name="adj" fmla="val 312558"/>
            </a:avLst>
          </a:prstGeom>
          <a:solidFill>
            <a:srgbClr val="CECEC9"/>
          </a:solidFill>
          <a:ln/>
        </p:spPr>
      </p:sp>
      <p:sp>
        <p:nvSpPr>
          <p:cNvPr id="5" name="Shape 3"/>
          <p:cNvSpPr/>
          <p:nvPr/>
        </p:nvSpPr>
        <p:spPr>
          <a:xfrm>
            <a:off x="6410087" y="2879408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ECEC9"/>
          </a:solidFill>
          <a:ln/>
        </p:spPr>
      </p:sp>
      <p:sp>
        <p:nvSpPr>
          <p:cNvPr id="6" name="Shape 4"/>
          <p:cNvSpPr/>
          <p:nvPr/>
        </p:nvSpPr>
        <p:spPr>
          <a:xfrm>
            <a:off x="7060049" y="263949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5119" y="26820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3345894" y="27173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Normalization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3207782"/>
            <a:ext cx="538734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Pixel values, initially ranging from 0-255, are scaled down to 0-1. This standardisation aids in faster and more stable training of the neural network.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539871" y="4240292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ECEC9"/>
          </a:solidFill>
          <a:ln/>
        </p:spPr>
      </p:sp>
      <p:sp>
        <p:nvSpPr>
          <p:cNvPr id="11" name="Shape 9"/>
          <p:cNvSpPr/>
          <p:nvPr/>
        </p:nvSpPr>
        <p:spPr>
          <a:xfrm>
            <a:off x="7060049" y="400038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5119" y="404288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8449270" y="4078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Reshaping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49270" y="4568666"/>
            <a:ext cx="538734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Images are reshaped into a 28x28x1 format. The '1' signifies a single channel for greyscale images, preparing them for Convolutional Neural Network (CNN) input.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6410087" y="5476994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ECEC9"/>
          </a:solidFill>
          <a:ln/>
        </p:spPr>
      </p:sp>
      <p:sp>
        <p:nvSpPr>
          <p:cNvPr id="16" name="Shape 14"/>
          <p:cNvSpPr/>
          <p:nvPr/>
        </p:nvSpPr>
        <p:spPr>
          <a:xfrm>
            <a:off x="7060049" y="523708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5119" y="52795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3345894" y="53149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Train/Validation Split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3790" y="5805368"/>
            <a:ext cx="538734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dataset is strategically divided into training and validation sets. This split allows the model to learn from a subset of data and evaluate its generalisation ability on unseen data.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929" y="424517"/>
            <a:ext cx="5402342" cy="48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Crafting the Convolutional Neural Network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96835" y="1107730"/>
            <a:ext cx="13836729" cy="248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CNN architecture </a:t>
            </a: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</a:t>
            </a: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designed to extract intricate features from handwritten digits, enabling precise classification.</a:t>
            </a:r>
            <a:endParaRPr lang="en-US" sz="1400" dirty="0"/>
          </a:p>
        </p:txBody>
      </p:sp>
      <p:sp>
        <p:nvSpPr>
          <p:cNvPr id="15" name="Text 7"/>
          <p:cNvSpPr/>
          <p:nvPr/>
        </p:nvSpPr>
        <p:spPr>
          <a:xfrm>
            <a:off x="495897" y="1717636"/>
            <a:ext cx="2268260" cy="388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Layer Breakdown</a:t>
            </a:r>
            <a:endParaRPr lang="en-US" dirty="0"/>
          </a:p>
        </p:txBody>
      </p:sp>
      <p:sp>
        <p:nvSpPr>
          <p:cNvPr id="16" name="Shape 8"/>
          <p:cNvSpPr/>
          <p:nvPr/>
        </p:nvSpPr>
        <p:spPr>
          <a:xfrm>
            <a:off x="355879" y="2161851"/>
            <a:ext cx="6869312" cy="1042648"/>
          </a:xfrm>
          <a:prstGeom prst="roundRect">
            <a:avLst>
              <a:gd name="adj" fmla="val 10698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</p:sp>
      <p:sp>
        <p:nvSpPr>
          <p:cNvPr id="17" name="Shape 9"/>
          <p:cNvSpPr/>
          <p:nvPr/>
        </p:nvSpPr>
        <p:spPr>
          <a:xfrm>
            <a:off x="355880" y="2161851"/>
            <a:ext cx="60960" cy="1042648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8" name="Text 10"/>
          <p:cNvSpPr/>
          <p:nvPr/>
        </p:nvSpPr>
        <p:spPr>
          <a:xfrm>
            <a:off x="582574" y="2357926"/>
            <a:ext cx="1417558" cy="2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Conv2D Layers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582574" y="2731740"/>
            <a:ext cx="6558796" cy="276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Feature extraction through convolutional filters.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7383305" y="2161851"/>
            <a:ext cx="6861691" cy="1042648"/>
          </a:xfrm>
          <a:prstGeom prst="roundRect">
            <a:avLst>
              <a:gd name="adj" fmla="val 10698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7368065" y="2161851"/>
            <a:ext cx="60960" cy="1042648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22" name="Text 14"/>
          <p:cNvSpPr/>
          <p:nvPr/>
        </p:nvSpPr>
        <p:spPr>
          <a:xfrm>
            <a:off x="7557612" y="2357926"/>
            <a:ext cx="1417558" cy="2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MaxPooling Layers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7557612" y="2731740"/>
            <a:ext cx="6558796" cy="276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Down-sampling to reduce dimensionality and computational load.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363500" y="3466224"/>
            <a:ext cx="6861691" cy="1042648"/>
          </a:xfrm>
          <a:prstGeom prst="roundRect">
            <a:avLst>
              <a:gd name="adj" fmla="val 10698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348260" y="3466224"/>
            <a:ext cx="60960" cy="1042648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26" name="Text 18"/>
          <p:cNvSpPr/>
          <p:nvPr/>
        </p:nvSpPr>
        <p:spPr>
          <a:xfrm>
            <a:off x="537808" y="3608025"/>
            <a:ext cx="1417558" cy="2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Flatten Layer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537808" y="4036114"/>
            <a:ext cx="6558796" cy="276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Converts the 2D feature maps into a 1D vector.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7338539" y="3466224"/>
            <a:ext cx="6861691" cy="1042648"/>
          </a:xfrm>
          <a:prstGeom prst="roundRect">
            <a:avLst>
              <a:gd name="adj" fmla="val 10698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323299" y="3466224"/>
            <a:ext cx="60960" cy="1042648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30" name="Text 22"/>
          <p:cNvSpPr/>
          <p:nvPr/>
        </p:nvSpPr>
        <p:spPr>
          <a:xfrm>
            <a:off x="7512846" y="3617979"/>
            <a:ext cx="1417558" cy="2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Dense Layers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7512846" y="4036114"/>
            <a:ext cx="6558796" cy="276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Fully connected layers for high-level reasoning and classification.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363500" y="4681709"/>
            <a:ext cx="6861691" cy="1042648"/>
          </a:xfrm>
          <a:prstGeom prst="roundRect">
            <a:avLst>
              <a:gd name="adj" fmla="val 10698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Shape 25"/>
          <p:cNvSpPr/>
          <p:nvPr/>
        </p:nvSpPr>
        <p:spPr>
          <a:xfrm>
            <a:off x="348260" y="4681709"/>
            <a:ext cx="60960" cy="1042648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34" name="Text 26"/>
          <p:cNvSpPr/>
          <p:nvPr/>
        </p:nvSpPr>
        <p:spPr>
          <a:xfrm>
            <a:off x="537808" y="4877784"/>
            <a:ext cx="1417558" cy="2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Dropout Layer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537808" y="5147933"/>
            <a:ext cx="6025552" cy="468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Prevents overfitting by randomly setting a fraction of input units to 0 at 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update during training.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7338539" y="4681709"/>
            <a:ext cx="6861691" cy="1042648"/>
          </a:xfrm>
          <a:prstGeom prst="roundRect">
            <a:avLst>
              <a:gd name="adj" fmla="val 10698"/>
            </a:avLst>
          </a:prstGeom>
          <a:solidFill>
            <a:srgbClr val="FFFFFF">
              <a:alpha val="95000"/>
            </a:srgbClr>
          </a:solidFill>
          <a:ln w="15240">
            <a:solidFill>
              <a:srgbClr val="CECEC9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323299" y="4681709"/>
            <a:ext cx="60960" cy="1042648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38" name="Text 30"/>
          <p:cNvSpPr/>
          <p:nvPr/>
        </p:nvSpPr>
        <p:spPr>
          <a:xfrm>
            <a:off x="7512846" y="4877784"/>
            <a:ext cx="1417558" cy="2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Softmax Activation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7512846" y="5251598"/>
            <a:ext cx="6558796" cy="276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Outputs probability distribution across the 10 digit classes.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465753" y="6170803"/>
            <a:ext cx="2268260" cy="388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Optimization &amp; Loss</a:t>
            </a:r>
            <a:endParaRPr lang="en-US" dirty="0"/>
          </a:p>
        </p:txBody>
      </p:sp>
      <p:sp>
        <p:nvSpPr>
          <p:cNvPr id="41" name="Shape 33"/>
          <p:cNvSpPr/>
          <p:nvPr/>
        </p:nvSpPr>
        <p:spPr>
          <a:xfrm>
            <a:off x="344449" y="6724726"/>
            <a:ext cx="6861691" cy="915594"/>
          </a:xfrm>
          <a:prstGeom prst="roundRect">
            <a:avLst>
              <a:gd name="adj" fmla="val 712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65417" y="6890398"/>
            <a:ext cx="1417558" cy="242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Adam Optimizer</a:t>
            </a:r>
            <a:endParaRPr lang="en-US" sz="1600" dirty="0"/>
          </a:p>
        </p:txBody>
      </p:sp>
      <p:sp>
        <p:nvSpPr>
          <p:cNvPr id="43" name="Text 35"/>
          <p:cNvSpPr/>
          <p:nvPr/>
        </p:nvSpPr>
        <p:spPr>
          <a:xfrm>
            <a:off x="465417" y="7226142"/>
            <a:ext cx="6619756" cy="248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adaptive learning rate optimisation algorithm, ideal for efficient convergence.</a:t>
            </a:r>
            <a:endParaRPr lang="en-US" sz="1400" dirty="0"/>
          </a:p>
        </p:txBody>
      </p:sp>
      <p:sp>
        <p:nvSpPr>
          <p:cNvPr id="44" name="Shape 36"/>
          <p:cNvSpPr/>
          <p:nvPr/>
        </p:nvSpPr>
        <p:spPr>
          <a:xfrm>
            <a:off x="7319488" y="6724726"/>
            <a:ext cx="6861691" cy="915594"/>
          </a:xfrm>
          <a:prstGeom prst="roundRect">
            <a:avLst>
              <a:gd name="adj" fmla="val 712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440455" y="6890398"/>
            <a:ext cx="2026206" cy="242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Sparse Categorical Crossentropy</a:t>
            </a:r>
            <a:endParaRPr lang="en-US" sz="1600" dirty="0"/>
          </a:p>
        </p:txBody>
      </p:sp>
      <p:sp>
        <p:nvSpPr>
          <p:cNvPr id="46" name="Text 38"/>
          <p:cNvSpPr/>
          <p:nvPr/>
        </p:nvSpPr>
        <p:spPr>
          <a:xfrm>
            <a:off x="7440455" y="7226142"/>
            <a:ext cx="6619756" cy="248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chosen loss function, suitable for multi-class classification when labels are integers.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5855"/>
            <a:ext cx="86347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Training and Validating the Model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247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undergoes iterative training to refine its learning and enhance predictive accuracy.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42849"/>
            <a:ext cx="4196358" cy="2410897"/>
          </a:xfrm>
          <a:prstGeom prst="roundRect">
            <a:avLst>
              <a:gd name="adj" fmla="val 2258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977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Epochs &amp; Batch Size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46770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over 10 epochs, with a batch size of 128. This balance ensures efficient learning without exhausting computational resources.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742849"/>
            <a:ext cx="4196358" cy="2410897"/>
          </a:xfrm>
          <a:prstGeom prst="roundRect">
            <a:avLst>
              <a:gd name="adj" fmla="val 2258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3977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Accuracy Progression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446770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Witnessing a consistent improvement in accuracy with each epoch, indicating effective learning from the training data.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742849"/>
            <a:ext cx="4196358" cy="2410897"/>
          </a:xfrm>
          <a:prstGeom prst="roundRect">
            <a:avLst>
              <a:gd name="adj" fmla="val 22580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3977283"/>
            <a:ext cx="29245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Dropout for Overfitting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4467701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judicious application of dropout layers significantly reduces the risk of overfitting, ensuring the model generalises well to new data.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393" y="523637"/>
            <a:ext cx="8384143" cy="59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Performance Metrics and Visualisations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6393" y="1499473"/>
            <a:ext cx="13297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demonstrates exceptional performance in distinguishing handwritten digits, supported by key metrics and visual insights.</a:t>
            </a:r>
            <a:endParaRPr lang="en-US" sz="145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6393" y="2018228"/>
            <a:ext cx="6171287" cy="40356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6393" y="6244233"/>
            <a:ext cx="238029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Accuracy over Epoch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6393" y="6655832"/>
            <a:ext cx="6529745" cy="913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trained CNN achieves a remarkable final accuracy of approximately 98-99 percent on the validation dataset, showing consistent improvement during training.</a:t>
            </a:r>
            <a:endParaRPr lang="en-US" sz="1450" dirty="0"/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4143" y="2018228"/>
            <a:ext cx="6171287" cy="40357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4143" y="6244352"/>
            <a:ext cx="238029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Confusion Matrix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434143" y="6655951"/>
            <a:ext cx="6529864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confusion matrix clearly illustrates the model's performance, highlighting which digits are often confused with others and revealing areas for refinement.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66393" y="7783711"/>
            <a:ext cx="13297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99108" y="469067"/>
            <a:ext cx="7320320" cy="613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38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8EF3AB-DB12-1A75-C3F1-0340875E5CC5}"/>
              </a:ext>
            </a:extLst>
          </p:cNvPr>
          <p:cNvSpPr txBox="1"/>
          <p:nvPr/>
        </p:nvSpPr>
        <p:spPr>
          <a:xfrm>
            <a:off x="687348" y="1530757"/>
            <a:ext cx="90662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Built a CNN-based system that accurately reads handwritten digits from a JPEG image.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Added custom </a:t>
            </a:r>
            <a:r>
              <a:rPr lang="en-IN" sz="2000" dirty="0" err="1"/>
              <a:t>preprocessing</a:t>
            </a:r>
            <a:r>
              <a:rPr lang="en-IN" sz="2000" dirty="0"/>
              <a:t> (thresholding, contour detection, padding, </a:t>
            </a:r>
            <a:r>
              <a:rPr lang="en-IN" sz="2000" dirty="0" err="1"/>
              <a:t>centering</a:t>
            </a:r>
            <a:r>
              <a:rPr lang="en-IN" sz="2000" dirty="0"/>
              <a:t>) to handle multi-digit sequences, not just single digits.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/>
              <a:t>System works well for clear spacing and clean handwriting but performs worse with overlapping digits, extreme noise, or handwriting styles very different from MNIST.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680</Words>
  <Application>Microsoft Office PowerPoint</Application>
  <PresentationFormat>Custom</PresentationFormat>
  <Paragraphs>73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Lato</vt:lpstr>
      <vt:lpstr>Arial</vt:lpstr>
      <vt:lpstr>Calibri</vt:lpstr>
      <vt:lpstr>Gelasio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manav taparia</cp:lastModifiedBy>
  <cp:revision>5</cp:revision>
  <dcterms:created xsi:type="dcterms:W3CDTF">2025-11-13T17:39:53Z</dcterms:created>
  <dcterms:modified xsi:type="dcterms:W3CDTF">2025-11-14T13:14:12Z</dcterms:modified>
</cp:coreProperties>
</file>